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07D41-8550-4CD8-BB1F-F85758C63CC6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7D6CC-C22E-4B80-9A63-A00823AC72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0265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7D6CC-C22E-4B80-9A63-A00823AC72E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5846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56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19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6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042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527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158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783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734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22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119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04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35433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908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224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35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0915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890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626FB2-9976-4C5A-829E-3FAC32886D05}" type="datetimeFigureOut">
              <a:rPr lang="en-US" smtClean="0"/>
              <a:t>11/24/2020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C8A82A-C4DE-4A4E-BD34-55D544F680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51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value </a:t>
            </a:r>
            <a:r>
              <a:rPr lang="en-US" dirty="0" smtClean="0"/>
              <a:t>iteration</a:t>
            </a:r>
            <a:br>
              <a:rPr lang="en-US" dirty="0" smtClean="0"/>
            </a:br>
            <a:r>
              <a:rPr lang="en-US" sz="4800" dirty="0" smtClean="0"/>
              <a:t>in grid world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mn-MN" sz="1800" dirty="0" smtClean="0">
                <a:latin typeface="Bahnschrift" panose="020B0502040204020203" pitchFamily="34" charset="0"/>
              </a:rPr>
              <a:t>Удирдсан багш</a:t>
            </a:r>
            <a:r>
              <a:rPr lang="en-US" sz="1800" dirty="0" smtClean="0">
                <a:latin typeface="Bahnschrift" panose="020B0502040204020203" pitchFamily="34" charset="0"/>
              </a:rPr>
              <a:t>:</a:t>
            </a:r>
            <a:r>
              <a:rPr lang="mn-MN" sz="1800" dirty="0" smtClean="0">
                <a:latin typeface="Bahnschrift" panose="020B0502040204020203" pitchFamily="34" charset="0"/>
              </a:rPr>
              <a:t> Б. Луубаатар</a:t>
            </a:r>
          </a:p>
          <a:p>
            <a:r>
              <a:rPr lang="mn-MN" sz="1800" dirty="0" smtClean="0">
                <a:latin typeface="Bahnschrift" panose="020B0502040204020203" pitchFamily="34" charset="0"/>
              </a:rPr>
              <a:t>Гүйцэтгэсэн оюутан</a:t>
            </a:r>
            <a:r>
              <a:rPr lang="en-US" sz="1800" dirty="0" smtClean="0">
                <a:latin typeface="Bahnschrift" panose="020B0502040204020203" pitchFamily="34" charset="0"/>
              </a:rPr>
              <a:t>: </a:t>
            </a:r>
            <a:r>
              <a:rPr lang="mn-MN" sz="1800" dirty="0" smtClean="0">
                <a:latin typeface="Bahnschrift" panose="020B0502040204020203" pitchFamily="34" charset="0"/>
              </a:rPr>
              <a:t>Г. Гантулга</a:t>
            </a:r>
            <a:endParaRPr lang="en-US" sz="18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157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iteration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 numCol="1"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4000" dirty="0" smtClean="0">
                    <a:latin typeface="Bahnschrift" panose="020B0502040204020203" pitchFamily="34" charset="0"/>
                  </a:rPr>
                  <a:t>Value iteration is a method of computing an optimal MDP policy and its value.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4000" dirty="0" smtClean="0">
                    <a:latin typeface="Bahnschrift" panose="020B0502040204020203" pitchFamily="34" charset="0"/>
                  </a:rPr>
                  <a:t>	Policy -&gt;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 → </m:t>
                    </m:r>
                    <m:sSubSup>
                      <m:sSubSup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4000" dirty="0" smtClean="0">
                  <a:latin typeface="Bahnschrift" panose="020B0502040204020203" pitchFamily="34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sz="4000" dirty="0" smtClean="0">
                    <a:latin typeface="Bahnschrift" panose="020B0502040204020203" pitchFamily="34" charset="0"/>
                  </a:rPr>
                  <a:t>	Value -&gt;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4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4000" b="0" i="1" smtClean="0">
                        <a:latin typeface="Cambria Math" panose="02040503050406030204" pitchFamily="18" charset="0"/>
                      </a:rPr>
                      <m:t> → </m:t>
                    </m:r>
                    <m:sSubSup>
                      <m:sSubSup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-US" sz="4000" dirty="0">
                  <a:latin typeface="Bahnschrift" panose="020B0502040204020203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2028" t="-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993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iteration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800" dirty="0" smtClean="0">
                    <a:latin typeface="Bahnschrift" panose="020B0502040204020203" pitchFamily="34" charset="0"/>
                  </a:rPr>
                  <a:t>Value iteration starts at the “end” </a:t>
                </a:r>
                <a:r>
                  <a:rPr lang="en-US" sz="2800" dirty="0">
                    <a:latin typeface="Bahnschrift" panose="020B0502040204020203" pitchFamily="34" charset="0"/>
                  </a:rPr>
                  <a:t>and then works </a:t>
                </a:r>
                <a:r>
                  <a:rPr lang="en-US" sz="2800" dirty="0" smtClean="0">
                    <a:latin typeface="Bahnschrift" panose="020B0502040204020203" pitchFamily="34" charset="0"/>
                  </a:rPr>
                  <a:t>backward</a:t>
                </a:r>
                <a:r>
                  <a:rPr lang="mn-MN" sz="2800" dirty="0" smtClean="0">
                    <a:latin typeface="Bahnschrift" panose="020B0502040204020203" pitchFamily="34" charset="0"/>
                  </a:rPr>
                  <a:t>. </a:t>
                </a:r>
                <a:r>
                  <a:rPr lang="en-US" sz="2800" dirty="0">
                    <a:latin typeface="Bahnschrift" panose="020B0502040204020203" pitchFamily="34" charset="0"/>
                  </a:rPr>
                  <a:t>There is really no end, so it uses an arbitrary end point.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2800" dirty="0" smtClean="0">
                    <a:latin typeface="Bahnschrift" panose="020B0502040204020203" pitchFamily="34" charset="0"/>
                  </a:rPr>
                  <a:t> </a:t>
                </a:r>
                <a:r>
                  <a:rPr lang="en-US" sz="2800" dirty="0">
                    <a:latin typeface="Bahnschrift" panose="020B0502040204020203" pitchFamily="34" charset="0"/>
                  </a:rPr>
                  <a:t>be the value function assuming there are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800" dirty="0" smtClean="0">
                    <a:latin typeface="Bahnschrift" panose="020B0502040204020203" pitchFamily="34" charset="0"/>
                  </a:rPr>
                  <a:t> </a:t>
                </a:r>
                <a:r>
                  <a:rPr lang="en-US" sz="2800" dirty="0">
                    <a:latin typeface="Bahnschrift" panose="020B0502040204020203" pitchFamily="34" charset="0"/>
                  </a:rPr>
                  <a:t>stages to go, and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𝑸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en-US" sz="2800" dirty="0" smtClean="0">
                    <a:latin typeface="Bahnschrift" panose="020B0502040204020203" pitchFamily="34" charset="0"/>
                  </a:rPr>
                  <a:t> </a:t>
                </a:r>
                <a:r>
                  <a:rPr lang="en-US" sz="2800" dirty="0">
                    <a:latin typeface="Bahnschrift" panose="020B0502040204020203" pitchFamily="34" charset="0"/>
                  </a:rPr>
                  <a:t>be the Q-function assuming there are </a:t>
                </a:r>
                <a14:m>
                  <m:oMath xmlns:m="http://schemas.openxmlformats.org/officeDocument/2006/math">
                    <m:r>
                      <a:rPr lang="en-US" sz="2800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800" dirty="0" smtClean="0">
                    <a:latin typeface="Bahnschrift" panose="020B0502040204020203" pitchFamily="34" charset="0"/>
                  </a:rPr>
                  <a:t> stages </a:t>
                </a:r>
                <a:r>
                  <a:rPr lang="en-US" sz="2800" dirty="0">
                    <a:latin typeface="Bahnschrift" panose="020B0502040204020203" pitchFamily="34" charset="0"/>
                  </a:rPr>
                  <a:t>to go. Value iteration starts with an arbitrary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sz="2800" dirty="0" smtClean="0">
                    <a:latin typeface="Bahnschrift" panose="020B0502040204020203" pitchFamily="34" charset="0"/>
                  </a:rPr>
                  <a:t> </a:t>
                </a:r>
                <a:r>
                  <a:rPr lang="en-US" sz="2800" dirty="0">
                    <a:latin typeface="Bahnschrift" panose="020B0502040204020203" pitchFamily="34" charset="0"/>
                  </a:rPr>
                  <a:t>and uses the following equations to get the functions for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sz="2800" dirty="0">
                    <a:latin typeface="Bahnschrift" panose="020B0502040204020203" pitchFamily="34" charset="0"/>
                  </a:rPr>
                  <a:t> stages to go from the functions for </a:t>
                </a:r>
                <a14:m>
                  <m:oMath xmlns:m="http://schemas.openxmlformats.org/officeDocument/2006/math">
                    <m:r>
                      <a:rPr lang="en-US" sz="2800" b="1" i="1" dirty="0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sz="2800" dirty="0">
                    <a:latin typeface="Bahnschrift" panose="020B0502040204020203" pitchFamily="34" charset="0"/>
                  </a:rPr>
                  <a:t> stages to go</a:t>
                </a:r>
                <a:r>
                  <a:rPr lang="en-US" sz="2800" dirty="0" smtClean="0">
                    <a:latin typeface="Bahnschrift" panose="020B0502040204020203" pitchFamily="34" charset="0"/>
                  </a:rPr>
                  <a:t>:</a:t>
                </a:r>
              </a:p>
              <a:p>
                <a:pPr marL="0" indent="0">
                  <a:buNone/>
                </a:pPr>
                <a:endParaRPr lang="en-US" sz="2800" dirty="0" smtClean="0">
                  <a:latin typeface="Bahnschrift" panose="020B0502040204020203" pitchFamily="34" charset="0"/>
                </a:endParaRPr>
              </a:p>
              <a:p>
                <a:pPr marL="0" indent="0">
                  <a:buNone/>
                </a:pPr>
                <a:endParaRPr lang="en-US" sz="2800" dirty="0">
                  <a:latin typeface="Bahnschrift" panose="020B0502040204020203" pitchFamily="34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183" t="-2576" r="-11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1763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iteration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	= 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  <m:sup/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∗(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𝛾</m:t>
                          </m:r>
                          <m:sSub>
                            <m:sSub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′))</m:t>
                          </m:r>
                          <m:r>
                            <m:rPr>
                              <m:nor/>
                            </m:rPr>
                            <a:rPr lang="en-US" sz="2400" dirty="0">
                              <a:latin typeface="Bahnschrift" panose="020B0502040204020203" pitchFamily="34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en-US" sz="240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	=</m:t>
                      </m:r>
                      <m:func>
                        <m:func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i="0" dirty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∗(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′))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Bahnschrift" panose="020B0502040204020203" pitchFamily="34" charset="0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	=</m:t>
                      </m:r>
                      <m:func>
                        <m:func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dirty="0" smtClean="0">
                                  <a:latin typeface="Cambria Math" panose="02040503050406030204" pitchFamily="18" charset="0"/>
                                </a:rPr>
                                <m:t>argmax</m:t>
                              </m:r>
                            </m:e>
                            <m:lim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b>
                            <m:sup/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∗(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d>
                                <m:d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p>
                                    <m:sSupPr>
                                      <m:ctrlP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sz="2400" i="1" dirty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𝛾</m:t>
                              </m:r>
                              <m:sSub>
                                <m:sSub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sz="2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sz="2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′))</m:t>
                              </m:r>
                              <m:r>
                                <m:rPr>
                                  <m:nor/>
                                </m:rPr>
                                <a:rPr lang="en-US" sz="2400" dirty="0">
                                  <a:latin typeface="Bahnschrift" panose="020B0502040204020203" pitchFamily="34" charset="0"/>
                                </a:rPr>
                                <m:t>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en-US" sz="2400" dirty="0" smtClean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46206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iteration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1"/>
          <a:stretch/>
        </p:blipFill>
        <p:spPr>
          <a:xfrm>
            <a:off x="4289760" y="2057401"/>
            <a:ext cx="3587927" cy="3584457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1"/>
          <a:stretch/>
        </p:blipFill>
        <p:spPr>
          <a:xfrm>
            <a:off x="0" y="2057401"/>
            <a:ext cx="3568890" cy="3565477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>
          <a:xfrm>
            <a:off x="3610148" y="3848642"/>
            <a:ext cx="603283" cy="98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77"/>
          <a:stretch/>
        </p:blipFill>
        <p:spPr>
          <a:xfrm>
            <a:off x="8598558" y="2057401"/>
            <a:ext cx="3593442" cy="3584457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>
          <a:xfrm>
            <a:off x="7954016" y="3848642"/>
            <a:ext cx="603283" cy="988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1129352" y="5950424"/>
                <a:ext cx="131018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352" y="5950424"/>
                <a:ext cx="1310185" cy="646331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5428630" y="5964072"/>
                <a:ext cx="131018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8630" y="5964072"/>
                <a:ext cx="1310185" cy="646331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9740186" y="5977720"/>
                <a:ext cx="1310185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600" dirty="0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0186" y="5977720"/>
                <a:ext cx="1310185" cy="646331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5833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iteration</a:t>
            </a: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1"/>
          <a:stretch/>
        </p:blipFill>
        <p:spPr>
          <a:xfrm>
            <a:off x="318733" y="935534"/>
            <a:ext cx="5645339" cy="5645308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8"/>
          <a:stretch/>
        </p:blipFill>
        <p:spPr>
          <a:xfrm>
            <a:off x="7200900" y="1886240"/>
            <a:ext cx="4723721" cy="4694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56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 iteration</a:t>
            </a:r>
          </a:p>
        </p:txBody>
      </p:sp>
      <p:pic>
        <p:nvPicPr>
          <p:cNvPr id="9" name="Content Placeholder 8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1"/>
          <a:stretch/>
        </p:blipFill>
        <p:spPr>
          <a:xfrm>
            <a:off x="8067737" y="2057401"/>
            <a:ext cx="3829901" cy="3829880"/>
          </a:xfr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67"/>
          <a:stretch/>
        </p:blipFill>
        <p:spPr>
          <a:xfrm>
            <a:off x="4228305" y="2057401"/>
            <a:ext cx="3839432" cy="382988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56"/>
          <a:stretch/>
        </p:blipFill>
        <p:spPr>
          <a:xfrm>
            <a:off x="393377" y="2057401"/>
            <a:ext cx="3834928" cy="382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69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Q-learning vs Value iteration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1"/>
          <a:stretch/>
        </p:blipFill>
        <p:spPr>
          <a:xfrm>
            <a:off x="3449200" y="2057401"/>
            <a:ext cx="4493797" cy="4489452"/>
          </a:xfrm>
        </p:spPr>
      </p:pic>
    </p:spTree>
    <p:extLst>
      <p:ext uri="{BB962C8B-B14F-4D97-AF65-F5344CB8AC3E}">
        <p14:creationId xmlns:p14="http://schemas.microsoft.com/office/powerpoint/2010/main" val="3759850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 vs Value iteration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31"/>
          <a:stretch/>
        </p:blipFill>
        <p:spPr>
          <a:xfrm>
            <a:off x="733147" y="2071890"/>
            <a:ext cx="4196489" cy="4192431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8"/>
          <a:stretch/>
        </p:blipFill>
        <p:spPr>
          <a:xfrm>
            <a:off x="7301552" y="2057400"/>
            <a:ext cx="4204648" cy="4207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179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Q-learning vs Value iteration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93"/>
          <a:stretch/>
        </p:blipFill>
        <p:spPr>
          <a:xfrm>
            <a:off x="712674" y="2057401"/>
            <a:ext cx="4214168" cy="4225096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8"/>
          <a:stretch/>
        </p:blipFill>
        <p:spPr>
          <a:xfrm>
            <a:off x="7283802" y="2057401"/>
            <a:ext cx="4222398" cy="422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2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-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-" id="{1479890C-BABB-4E3C-9E6C-8DB375EC26A6}" vid="{1F763195-A0BA-480D-8B90-6803FC11C2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Theme2</Template>
  <TotalTime>101</TotalTime>
  <Words>82</Words>
  <Application>Microsoft Office PowerPoint</Application>
  <PresentationFormat>Widescreen</PresentationFormat>
  <Paragraphs>25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Bahnschrift</vt:lpstr>
      <vt:lpstr>Calibri</vt:lpstr>
      <vt:lpstr>Cambria Math</vt:lpstr>
      <vt:lpstr>Century Gothic</vt:lpstr>
      <vt:lpstr>Theme-</vt:lpstr>
      <vt:lpstr>value iteration in grid world</vt:lpstr>
      <vt:lpstr>Value iteration</vt:lpstr>
      <vt:lpstr>Value iteration</vt:lpstr>
      <vt:lpstr>Value iteration</vt:lpstr>
      <vt:lpstr>Value iteration</vt:lpstr>
      <vt:lpstr>Value iteration</vt:lpstr>
      <vt:lpstr>Value iteration</vt:lpstr>
      <vt:lpstr>Q-learning vs Value iteration</vt:lpstr>
      <vt:lpstr>Q-learning vs Value iteration</vt:lpstr>
      <vt:lpstr>Q-learning vs Value iteration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iteration in grid world</dc:title>
  <dc:creator>Microsoft account</dc:creator>
  <cp:lastModifiedBy>Microsoft account</cp:lastModifiedBy>
  <cp:revision>24</cp:revision>
  <dcterms:created xsi:type="dcterms:W3CDTF">2020-11-23T18:34:35Z</dcterms:created>
  <dcterms:modified xsi:type="dcterms:W3CDTF">2020-11-23T20:16:32Z</dcterms:modified>
</cp:coreProperties>
</file>